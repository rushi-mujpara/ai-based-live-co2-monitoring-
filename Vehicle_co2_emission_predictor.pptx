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5"/>
  </p:notesMasterIdLst>
  <p:sldIdLst>
    <p:sldId id="1303" r:id="rId5"/>
    <p:sldId id="1301" r:id="rId6"/>
    <p:sldId id="1310" r:id="rId7"/>
    <p:sldId id="1302" r:id="rId8"/>
    <p:sldId id="1306" r:id="rId9"/>
    <p:sldId id="1307" r:id="rId10"/>
    <p:sldId id="1308" r:id="rId11"/>
    <p:sldId id="1295" r:id="rId12"/>
    <p:sldId id="1296" r:id="rId13"/>
    <p:sldId id="1250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EFF"/>
    <a:srgbClr val="F9FFEB"/>
    <a:srgbClr val="EDFFC5"/>
    <a:srgbClr val="7FBA00"/>
    <a:srgbClr val="EBEEF9"/>
    <a:srgbClr val="213164"/>
    <a:srgbClr val="FED500"/>
    <a:srgbClr val="484F9E"/>
    <a:srgbClr val="F6AB1B"/>
    <a:srgbClr val="F7BA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882" autoAdjust="0"/>
  </p:normalViewPr>
  <p:slideViewPr>
    <p:cSldViewPr snapToGrid="0">
      <p:cViewPr>
        <p:scale>
          <a:sx n="66" d="100"/>
          <a:sy n="66" d="100"/>
        </p:scale>
        <p:origin x="644" y="36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66F48-9D21-782B-817D-628E00E79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A01B1-8FFD-B3B2-8C58-D03C141EA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91DBC-FC69-5469-D390-5D98A1242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E33EE-4789-F264-0283-0D77B6B7A50C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5481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1658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B80395F-E9B0-9621-C4E3-FD7FF727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63215563-4F70-DE4A-C34C-638BAB5FB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9344126E-2736-A4F6-D565-28E63507C3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1934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113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D6D3F29-8BDE-7163-D2D5-EE57DFC9C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A41EE912-6552-9CC6-CD6B-6B98030891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F97443E-66AE-5448-3379-C79C608008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82909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740807C-4F7F-7350-DAC5-C698CAF95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A6354546-E6C2-39A5-0CD8-6088FB6DE0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5765A9FB-648E-959C-28ED-38B9E68061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9068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31DF3603-B90C-E85A-3BA4-021FBC104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7E4F9E3F-281C-99B0-C36B-EBAA663D8C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19D15949-A0F5-E877-78C7-0F3F8BE63E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9055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812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03845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 userDrawn="1"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 userDrawn="1"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 userDrawn="1"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14" r:id="rId2"/>
    <p:sldLayoutId id="2147483727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ultralytics.com/" TargetMode="External"/><Relationship Id="rId13" Type="http://schemas.openxmlformats.org/officeDocument/2006/relationships/image" Target="../media/image19.png"/><Relationship Id="rId3" Type="http://schemas.openxmlformats.org/officeDocument/2006/relationships/hyperlink" Target="https://www.kaggle.com/code/tatianafuentes/co2-vehicles-emission" TargetMode="External"/><Relationship Id="rId7" Type="http://schemas.openxmlformats.org/officeDocument/2006/relationships/hyperlink" Target="https://www.kaggle.com/datasets/debajyotipodder/co2-emission-by-vehicles/data" TargetMode="External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reamlit.io/" TargetMode="External"/><Relationship Id="rId11" Type="http://schemas.openxmlformats.org/officeDocument/2006/relationships/image" Target="../media/image17.png"/><Relationship Id="rId5" Type="http://schemas.openxmlformats.org/officeDocument/2006/relationships/hyperlink" Target="https://www.python.org/" TargetMode="External"/><Relationship Id="rId15" Type="http://schemas.openxmlformats.org/officeDocument/2006/relationships/image" Target="../media/image21.png"/><Relationship Id="rId10" Type="http://schemas.openxmlformats.org/officeDocument/2006/relationships/hyperlink" Target="https://github.com/ruhyadi/vehicle-detection-yolov8" TargetMode="External"/><Relationship Id="rId4" Type="http://schemas.openxmlformats.org/officeDocument/2006/relationships/hyperlink" Target="https://developer.tomtom.com/pricing" TargetMode="External"/><Relationship Id="rId9" Type="http://schemas.openxmlformats.org/officeDocument/2006/relationships/hyperlink" Target="https://docs.ultralytics.com/models/yolo26/" TargetMode="External"/><Relationship Id="rId1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107AE-7741-CFD9-BE8D-2CAE1C48C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2F44FAA3-CD3A-C2DE-34BE-DD7BBE78D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" y="90611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F167754-280A-4FED-560B-C3D6EB2185DE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298952-1BDB-C0AE-516A-649A0AADEA76}"/>
              </a:ext>
            </a:extLst>
          </p:cNvPr>
          <p:cNvSpPr txBox="1"/>
          <p:nvPr/>
        </p:nvSpPr>
        <p:spPr>
          <a:xfrm>
            <a:off x="4236720" y="2048026"/>
            <a:ext cx="7355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Vehicle CO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Emission Tracker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4EC782-EC27-B496-4307-079310BF069F}"/>
              </a:ext>
            </a:extLst>
          </p:cNvPr>
          <p:cNvGrpSpPr/>
          <p:nvPr/>
        </p:nvGrpSpPr>
        <p:grpSpPr>
          <a:xfrm>
            <a:off x="6096000" y="707886"/>
            <a:ext cx="4218482" cy="664378"/>
            <a:chOff x="2375536" y="1112060"/>
            <a:chExt cx="5261230" cy="828603"/>
          </a:xfrm>
        </p:grpSpPr>
        <p:pic>
          <p:nvPicPr>
            <p:cNvPr id="19" name="Picture 18" descr="A close up of a logo&#10;&#10;Description automatically generated">
              <a:extLst>
                <a:ext uri="{FF2B5EF4-FFF2-40B4-BE49-F238E27FC236}">
                  <a16:creationId xmlns:a16="http://schemas.microsoft.com/office/drawing/2014/main" id="{6BB3DC08-2A20-1075-63BC-E8C04F7BB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1375" y="1270168"/>
              <a:ext cx="1575391" cy="512386"/>
            </a:xfrm>
            <a:prstGeom prst="rect">
              <a:avLst/>
            </a:prstGeom>
          </p:spPr>
        </p:pic>
        <p:pic>
          <p:nvPicPr>
            <p:cNvPr id="21" name="Picture 20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B15A103C-65F3-1F0A-3229-6389A2325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6F19223-1516-B9D6-0D92-8A75320E6DC6}"/>
              </a:ext>
            </a:extLst>
          </p:cNvPr>
          <p:cNvSpPr txBox="1"/>
          <p:nvPr/>
        </p:nvSpPr>
        <p:spPr>
          <a:xfrm>
            <a:off x="4439529" y="3042365"/>
            <a:ext cx="3363421" cy="2965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L.D. College of Engineering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Rushi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Mujpara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(Group Leader)</a:t>
            </a:r>
          </a:p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Mihir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Jethava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Rohan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Chaudhari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Priyank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Badarshahi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Date:17/03/2026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Mentor : Priya Shah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854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187D97-AC02-5BCF-D768-8D617B7921FC}"/>
              </a:ext>
            </a:extLst>
          </p:cNvPr>
          <p:cNvSpPr txBox="1">
            <a:spLocks/>
          </p:cNvSpPr>
          <p:nvPr/>
        </p:nvSpPr>
        <p:spPr>
          <a:xfrm>
            <a:off x="202071" y="1638915"/>
            <a:ext cx="7559696" cy="43513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>
                <a:solidFill>
                  <a:srgbClr val="C00000"/>
                </a:solidFill>
              </a:rPr>
              <a:t>Brief Overview:</a:t>
            </a:r>
          </a:p>
          <a:p>
            <a:r>
              <a:rPr lang="en-US" dirty="0"/>
              <a:t>Urban traffic congestion directly impacts </a:t>
            </a:r>
            <a:r>
              <a:rPr lang="en-US" b="1" dirty="0"/>
              <a:t>environmental health</a:t>
            </a:r>
            <a:r>
              <a:rPr lang="en-US" dirty="0"/>
              <a:t>. This project establishes the relationship between vehicle speed and emissions </a:t>
            </a:r>
            <a:r>
              <a:rPr lang="en-US" b="1" dirty="0"/>
              <a:t>(the "U-shaped curve") </a:t>
            </a:r>
            <a:r>
              <a:rPr lang="en-US" dirty="0"/>
              <a:t>to predict and map real-time carbon footprints across city </a:t>
            </a:r>
            <a:r>
              <a:rPr lang="en-US" b="1" dirty="0"/>
              <a:t>road segments using machine learning.</a:t>
            </a:r>
          </a:p>
          <a:p>
            <a:endParaRPr lang="en-US" b="1" dirty="0"/>
          </a:p>
          <a:p>
            <a:r>
              <a:rPr lang="en-US" b="1" dirty="0"/>
              <a:t>Shortly, Project Estimated and predicts the CO₂ emissions using Machine Learning, Live API and Computer Vision.</a:t>
            </a:r>
          </a:p>
          <a:p>
            <a:endParaRPr lang="en-US" dirty="0"/>
          </a:p>
          <a:p>
            <a:r>
              <a:rPr lang="en-US" sz="2400" b="1" dirty="0">
                <a:solidFill>
                  <a:srgbClr val="C00000"/>
                </a:solidFill>
              </a:rPr>
              <a:t>Key 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Process and engineer features from </a:t>
            </a:r>
            <a:r>
              <a:rPr lang="en-US" b="1" dirty="0"/>
              <a:t>vehicle emission datasets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Train an ML model to accurately predict </a:t>
            </a:r>
            <a:r>
              <a:rPr lang="en-US" b="1" dirty="0"/>
              <a:t>CO₂ output (grams/km).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Integrate a live traffic API to feed real-time data to the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Build an interactive dashboard to visualize emission hotspots and trends.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B1BC4A-9C06-38DD-7C54-031675AB8B42}"/>
              </a:ext>
            </a:extLst>
          </p:cNvPr>
          <p:cNvSpPr txBox="1"/>
          <p:nvPr/>
        </p:nvSpPr>
        <p:spPr>
          <a:xfrm>
            <a:off x="202071" y="972537"/>
            <a:ext cx="59040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213163"/>
                </a:solidFill>
              </a:rPr>
              <a:t>Problem Statement</a:t>
            </a:r>
            <a:endParaRPr lang="en-IN" sz="3200" dirty="0">
              <a:solidFill>
                <a:srgbClr val="21316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B1819C-D0FF-B432-6EF1-760E058F2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476" y="1264925"/>
            <a:ext cx="3519810" cy="17862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48E484-842D-C95E-40C1-0FB2BD8894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727" b="11140"/>
          <a:stretch/>
        </p:blipFill>
        <p:spPr>
          <a:xfrm>
            <a:off x="8470232" y="3628810"/>
            <a:ext cx="2680791" cy="236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8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EAFFD69-8A93-ACB5-F2C9-A28EC6902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7804F0F-D945-868D-6989-BC8F35292AFC}"/>
              </a:ext>
            </a:extLst>
          </p:cNvPr>
          <p:cNvSpPr txBox="1"/>
          <p:nvPr/>
        </p:nvSpPr>
        <p:spPr>
          <a:xfrm>
            <a:off x="202071" y="972537"/>
            <a:ext cx="59040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213163"/>
                </a:solidFill>
              </a:rPr>
              <a:t>Dataset Overview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17E990F-3D74-1CD2-E0DE-BA7D8581226A}"/>
              </a:ext>
            </a:extLst>
          </p:cNvPr>
          <p:cNvSpPr txBox="1">
            <a:spLocks/>
          </p:cNvSpPr>
          <p:nvPr/>
        </p:nvSpPr>
        <p:spPr>
          <a:xfrm>
            <a:off x="691169" y="1635136"/>
            <a:ext cx="6464543" cy="452596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>
                <a:solidFill>
                  <a:srgbClr val="C00000"/>
                </a:solidFill>
              </a:rPr>
              <a:t>Dataset Description: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Historical Data:</a:t>
            </a:r>
            <a:r>
              <a:rPr lang="en-US" dirty="0"/>
              <a:t> </a:t>
            </a:r>
            <a:r>
              <a:rPr lang="en-US" dirty="0" err="1"/>
              <a:t>Kaggle</a:t>
            </a:r>
            <a:r>
              <a:rPr lang="en-US" dirty="0"/>
              <a:t> Vehicle CO₂ Dataset acts as the "</a:t>
            </a:r>
            <a:r>
              <a:rPr lang="en-US" b="1" dirty="0"/>
              <a:t>source of truth</a:t>
            </a:r>
            <a:r>
              <a:rPr lang="en-US" dirty="0"/>
              <a:t>" for training the AI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Live Data:</a:t>
            </a:r>
            <a:r>
              <a:rPr lang="en-US" dirty="0"/>
              <a:t> TomTom API (Flow Segment Data) is used to pull real-time vehicle speeds for specific city coordinates.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Visual Recognition</a:t>
            </a:r>
            <a:r>
              <a:rPr lang="en-US" dirty="0"/>
              <a:t>: we have also intergraded the YOLO-n model for finding the no. Vehicles and then finding its emission factor. </a:t>
            </a:r>
          </a:p>
          <a:p>
            <a:endParaRPr lang="en-US" dirty="0"/>
          </a:p>
          <a:p>
            <a:r>
              <a:rPr lang="en-US" sz="2400" b="1" dirty="0">
                <a:solidFill>
                  <a:srgbClr val="C00000"/>
                </a:solidFill>
              </a:rPr>
              <a:t>Data Preprocessing: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Cleaned the </a:t>
            </a:r>
            <a:r>
              <a:rPr lang="en-US" dirty="0" err="1"/>
              <a:t>Kaggle</a:t>
            </a:r>
            <a:r>
              <a:rPr lang="en-US" dirty="0"/>
              <a:t> dataset using the </a:t>
            </a:r>
            <a:r>
              <a:rPr lang="en-US" b="1" dirty="0"/>
              <a:t>Pandas</a:t>
            </a:r>
            <a:r>
              <a:rPr lang="en-US" dirty="0"/>
              <a:t> library.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Applied </a:t>
            </a:r>
            <a:r>
              <a:rPr lang="en-US" b="1" dirty="0"/>
              <a:t>One-Hot Encoding to handle categorical variables</a:t>
            </a:r>
            <a:r>
              <a:rPr lang="en-US" dirty="0"/>
              <a:t> such as "Fuel Type."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Performed </a:t>
            </a:r>
            <a:r>
              <a:rPr lang="en-US" b="1" dirty="0"/>
              <a:t>feature engineering to create new variables</a:t>
            </a:r>
            <a:r>
              <a:rPr lang="en-US" dirty="0"/>
              <a:t>, including "Fuel Efficiency" and "Congestion Level" (calculated as Current Speed / Free Flow Speed).</a:t>
            </a:r>
          </a:p>
        </p:txBody>
      </p:sp>
      <p:pic>
        <p:nvPicPr>
          <p:cNvPr id="6" name="Picture 5" descr="A traffic jam with cars and buses&#10;&#10;AI-generated content may be incorrect.">
            <a:extLst>
              <a:ext uri="{FF2B5EF4-FFF2-40B4-BE49-F238E27FC236}">
                <a16:creationId xmlns:a16="http://schemas.microsoft.com/office/drawing/2014/main" id="{9CB82ABA-BC2F-51F4-200D-90249F3CA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446" y="1383458"/>
            <a:ext cx="2987446" cy="16761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9C0219-8538-5A71-3403-03FE8491E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4446" y="3552567"/>
            <a:ext cx="3530581" cy="260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379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C299C6-A902-0E4E-F505-019C3D9286E4}"/>
              </a:ext>
            </a:extLst>
          </p:cNvPr>
          <p:cNvSpPr txBox="1">
            <a:spLocks/>
          </p:cNvSpPr>
          <p:nvPr/>
        </p:nvSpPr>
        <p:spPr>
          <a:xfrm>
            <a:off x="628650" y="1825625"/>
            <a:ext cx="6261248" cy="481972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>
                <a:solidFill>
                  <a:srgbClr val="C00000"/>
                </a:solidFill>
              </a:rPr>
              <a:t>Approach: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Built a </a:t>
            </a:r>
            <a:r>
              <a:rPr lang="en-US" sz="1900" b="1" dirty="0"/>
              <a:t>Python API wrapper to ping TomTom </a:t>
            </a:r>
            <a:r>
              <a:rPr lang="en-US" sz="1900" dirty="0"/>
              <a:t>for bounding box speed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Developed an </a:t>
            </a:r>
            <a:r>
              <a:rPr lang="en-US" sz="1900" b="1" dirty="0"/>
              <a:t>inference engine to feed live speeds into the trained model</a:t>
            </a:r>
            <a:r>
              <a:rPr lang="en-US" sz="19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Set up </a:t>
            </a:r>
            <a:r>
              <a:rPr lang="en-US" sz="1900" b="1" dirty="0"/>
              <a:t>an SQLite database logging system </a:t>
            </a:r>
            <a:r>
              <a:rPr lang="en-US" sz="1900" dirty="0"/>
              <a:t>to record predictions hourly.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Designed a </a:t>
            </a:r>
            <a:r>
              <a:rPr lang="en-US" sz="1900" b="1" dirty="0" err="1"/>
              <a:t>Streamlit</a:t>
            </a:r>
            <a:r>
              <a:rPr lang="en-US" sz="1900" b="1" dirty="0"/>
              <a:t> frontend with a Folium map </a:t>
            </a:r>
            <a:r>
              <a:rPr lang="en-US" sz="1900" dirty="0"/>
              <a:t>to render live traffic data.</a:t>
            </a:r>
          </a:p>
          <a:p>
            <a:endParaRPr lang="en-US" sz="1800" dirty="0"/>
          </a:p>
          <a:p>
            <a:r>
              <a:rPr lang="en-US" sz="2400" b="1" dirty="0">
                <a:solidFill>
                  <a:srgbClr val="C00000"/>
                </a:solidFill>
              </a:rPr>
              <a:t>Algorithms Used:</a:t>
            </a:r>
          </a:p>
          <a:p>
            <a:br>
              <a:rPr lang="en-US" sz="1800" dirty="0"/>
            </a:br>
            <a:r>
              <a:rPr lang="en-US" sz="1900" b="1" dirty="0" err="1"/>
              <a:t>XGBoost</a:t>
            </a:r>
            <a:r>
              <a:rPr lang="en-US" sz="1900" b="1" dirty="0"/>
              <a:t> Regressor</a:t>
            </a:r>
            <a:r>
              <a:rPr lang="en-US" sz="1900" dirty="0"/>
              <a:t> was selected to handle the complex, non-linear relationship between traffic features and emissions.</a:t>
            </a:r>
            <a:br>
              <a:rPr lang="en-US" sz="1800" dirty="0"/>
            </a:br>
            <a:endParaRPr lang="en-US" sz="1800" dirty="0"/>
          </a:p>
          <a:p>
            <a:r>
              <a:rPr lang="en-US" sz="2400" b="1" dirty="0">
                <a:solidFill>
                  <a:srgbClr val="C00000"/>
                </a:solidFill>
              </a:rPr>
              <a:t>Evaluation Metrics:</a:t>
            </a:r>
            <a:br>
              <a:rPr lang="en-US" sz="1800" dirty="0"/>
            </a:br>
            <a:r>
              <a:rPr lang="en-US" sz="2100" b="1" dirty="0"/>
              <a:t>Root Mean </a:t>
            </a:r>
            <a:r>
              <a:rPr lang="en-US" sz="2100" b="1" dirty="0" err="1"/>
              <a:t>Squred</a:t>
            </a:r>
            <a:r>
              <a:rPr lang="en-US" sz="2100" b="1" dirty="0"/>
              <a:t> Error</a:t>
            </a:r>
            <a:r>
              <a:rPr lang="en-US" sz="2100" dirty="0"/>
              <a:t> :was calculated using a 70/30 train-test split to validate model accuracy before real-time deployment.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86DC2D-04B5-6DF2-25D3-F5C8914AB624}"/>
              </a:ext>
            </a:extLst>
          </p:cNvPr>
          <p:cNvSpPr txBox="1"/>
          <p:nvPr/>
        </p:nvSpPr>
        <p:spPr>
          <a:xfrm>
            <a:off x="202071" y="972537"/>
            <a:ext cx="59040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213163"/>
                </a:solidFill>
              </a:rPr>
              <a:t>Methodology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D5AD07-204B-B678-2BDB-C7599EFE9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968" y="739640"/>
            <a:ext cx="3357220" cy="25241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E2E6B4-F610-C724-0C64-0ECF1DDB5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8968" y="3594161"/>
            <a:ext cx="3702499" cy="25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30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8ADD651-E02D-6A0F-1E19-CB2116BE5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93AA17-5B15-43A6-7AF2-5319AB973A56}"/>
              </a:ext>
            </a:extLst>
          </p:cNvPr>
          <p:cNvSpPr txBox="1">
            <a:spLocks/>
          </p:cNvSpPr>
          <p:nvPr/>
        </p:nvSpPr>
        <p:spPr>
          <a:xfrm>
            <a:off x="522325" y="1793726"/>
            <a:ext cx="6442679" cy="4864697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>
                <a:solidFill>
                  <a:srgbClr val="C00000"/>
                </a:solidFill>
              </a:rPr>
              <a:t>Model Performance:</a:t>
            </a:r>
          </a:p>
          <a:p>
            <a:r>
              <a:rPr lang="en-US" sz="1800" dirty="0"/>
              <a:t>The </a:t>
            </a:r>
            <a:r>
              <a:rPr lang="en-US" sz="1800" dirty="0" err="1"/>
              <a:t>XGBoost</a:t>
            </a:r>
            <a:r>
              <a:rPr lang="en-US" sz="1800" dirty="0"/>
              <a:t> model achieved a low Root Mean Squared error, confirming its reliability for live inference and accurate real-time CO₂ prediction.</a:t>
            </a:r>
          </a:p>
          <a:p>
            <a:endParaRPr lang="en-US" dirty="0"/>
          </a:p>
          <a:p>
            <a:r>
              <a:rPr lang="en-US" sz="2400" b="1" dirty="0">
                <a:solidFill>
                  <a:srgbClr val="C00000"/>
                </a:solidFill>
              </a:rPr>
              <a:t>Graphs/Visualizations:</a:t>
            </a:r>
            <a:br>
              <a:rPr lang="en-US" dirty="0"/>
            </a:br>
            <a:r>
              <a:rPr lang="en-IN" sz="1800" b="1" dirty="0"/>
              <a:t>Folium Map:</a:t>
            </a:r>
            <a:r>
              <a:rPr lang="en-IN" sz="1800" dirty="0"/>
              <a:t> Renders city polyline segments color-coded by emission severity (Green: &lt;100g/km, Yellow: 100-200g/km, Red: &gt;200g/km).</a:t>
            </a:r>
          </a:p>
          <a:p>
            <a:r>
              <a:rPr lang="en-IN" sz="1800" b="1" dirty="0" err="1"/>
              <a:t>Plotly</a:t>
            </a:r>
            <a:r>
              <a:rPr lang="en-IN" sz="1800" b="1" dirty="0"/>
              <a:t> Line Chart:</a:t>
            </a:r>
            <a:r>
              <a:rPr lang="en-IN" sz="1800" dirty="0"/>
              <a:t> Displays dynamic emission trends over a rolling 24-hour period.</a:t>
            </a:r>
          </a:p>
          <a:p>
            <a:r>
              <a:rPr lang="en-IN" sz="1800" b="1" dirty="0"/>
              <a:t>Metric Cards:</a:t>
            </a:r>
            <a:r>
              <a:rPr lang="en-IN" sz="1800" dirty="0"/>
              <a:t> A dashboard widget actively highlighting the "current worst hotspot" in the city.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E1687-7F69-BD4F-0FC1-3AFCEDB18C67}"/>
              </a:ext>
            </a:extLst>
          </p:cNvPr>
          <p:cNvSpPr txBox="1"/>
          <p:nvPr/>
        </p:nvSpPr>
        <p:spPr>
          <a:xfrm>
            <a:off x="202071" y="972537"/>
            <a:ext cx="59040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213163"/>
                </a:solidFill>
              </a:rPr>
              <a:t>Result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38B6B-3497-7E0B-B8F4-D8B5AA3CA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782" y="1264924"/>
            <a:ext cx="4678147" cy="486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75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747AA64-86DA-EEB4-2B58-F5C9F4F69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C86F6F-7155-7EC3-58B1-50842D7FA97A}"/>
              </a:ext>
            </a:extLst>
          </p:cNvPr>
          <p:cNvSpPr txBox="1">
            <a:spLocks/>
          </p:cNvSpPr>
          <p:nvPr/>
        </p:nvSpPr>
        <p:spPr>
          <a:xfrm>
            <a:off x="607385" y="1666137"/>
            <a:ext cx="6867303" cy="43513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>
                <a:solidFill>
                  <a:srgbClr val="C00000"/>
                </a:solidFill>
              </a:rPr>
              <a:t>Insights:</a:t>
            </a:r>
          </a:p>
          <a:p>
            <a:r>
              <a:rPr lang="en-US" sz="1800" dirty="0"/>
              <a:t>The system successfully identifies the </a:t>
            </a:r>
            <a:r>
              <a:rPr lang="en-US" sz="1800" b="1" dirty="0"/>
              <a:t>"Best Time to Travel" </a:t>
            </a:r>
            <a:r>
              <a:rPr lang="en-US" sz="1800" dirty="0"/>
              <a:t>by analyzing logged data to find hours with the lowest average emissions.</a:t>
            </a:r>
          </a:p>
          <a:p>
            <a:r>
              <a:rPr lang="en-US" sz="1800" dirty="0"/>
              <a:t>The UI's </a:t>
            </a:r>
            <a:r>
              <a:rPr lang="en-US" sz="1800" b="1" dirty="0"/>
              <a:t>"What-If Simulator" </a:t>
            </a:r>
            <a:r>
              <a:rPr lang="en-US" sz="1800" dirty="0"/>
              <a:t>visually proves the massive environmental benefit of transitioning city traffic to Electric Vehicles </a:t>
            </a:r>
            <a:r>
              <a:rPr lang="en-US" sz="1800" b="1" dirty="0"/>
              <a:t>(e.g., simulating 50% EV adoption).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400" b="1" dirty="0">
                <a:solidFill>
                  <a:srgbClr val="C00000"/>
                </a:solidFill>
              </a:rPr>
              <a:t>Challenges Faced: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Merging static historical datasets with </a:t>
            </a:r>
            <a:r>
              <a:rPr lang="en-IN" sz="1800" b="1" dirty="0"/>
              <a:t>live JSON API </a:t>
            </a:r>
            <a:r>
              <a:rPr lang="en-IN" sz="1800" dirty="0"/>
              <a:t>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Mapping complex coordinate </a:t>
            </a:r>
            <a:r>
              <a:rPr lang="en-IN" sz="1800" b="1" dirty="0"/>
              <a:t>polylines dynamically onto the Folium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Ensuring the </a:t>
            </a:r>
            <a:r>
              <a:rPr lang="en-IN" sz="1800" b="1" dirty="0"/>
              <a:t>SQLite logging </a:t>
            </a:r>
            <a:r>
              <a:rPr lang="en-IN" sz="1800" dirty="0"/>
              <a:t>system updated smoothly without bottlenecking the </a:t>
            </a:r>
            <a:r>
              <a:rPr lang="en-IN" sz="1800" b="1" dirty="0"/>
              <a:t>real-time </a:t>
            </a:r>
            <a:r>
              <a:rPr lang="en-IN" sz="1800" b="1" dirty="0" err="1"/>
              <a:t>Streamlit</a:t>
            </a:r>
            <a:r>
              <a:rPr lang="en-IN" sz="1800" b="1" dirty="0"/>
              <a:t> dashboard</a:t>
            </a:r>
            <a:r>
              <a:rPr lang="en-IN" sz="18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32A3D-F4D5-4E25-BE28-B9E521F37201}"/>
              </a:ext>
            </a:extLst>
          </p:cNvPr>
          <p:cNvSpPr txBox="1"/>
          <p:nvPr/>
        </p:nvSpPr>
        <p:spPr>
          <a:xfrm>
            <a:off x="202071" y="972537"/>
            <a:ext cx="59040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213163"/>
                </a:solidFill>
              </a:rPr>
              <a:t>Discussion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8D85A-0151-7F80-C19F-EB41109BD8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544"/>
          <a:stretch/>
        </p:blipFill>
        <p:spPr>
          <a:xfrm>
            <a:off x="8516763" y="2779721"/>
            <a:ext cx="2846471" cy="226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32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FFAAF42-470E-97FC-B197-6E5DF9ED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D3A5A0-5DE1-57D5-1967-A49F57C9AB4B}"/>
              </a:ext>
            </a:extLst>
          </p:cNvPr>
          <p:cNvSpPr txBox="1">
            <a:spLocks/>
          </p:cNvSpPr>
          <p:nvPr/>
        </p:nvSpPr>
        <p:spPr>
          <a:xfrm>
            <a:off x="734975" y="1751197"/>
            <a:ext cx="5492570" cy="4351338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>
                <a:solidFill>
                  <a:srgbClr val="C00000"/>
                </a:solidFill>
              </a:rPr>
              <a:t>Sustainability Impact:</a:t>
            </a:r>
          </a:p>
          <a:p>
            <a:r>
              <a:rPr lang="en-US" sz="1800" dirty="0"/>
              <a:t>Directly contributes to environmental monitoring by highlighting </a:t>
            </a:r>
            <a:r>
              <a:rPr lang="en-US" sz="1800" b="1" dirty="0"/>
              <a:t>how speed and congestion influence carbon output</a:t>
            </a:r>
            <a:r>
              <a:rPr lang="en-US" sz="1800" dirty="0"/>
              <a:t>. It generates automated precautions (e.g., "High Congestion: Recommend carpooling") to encourage greener travel habits.</a:t>
            </a:r>
          </a:p>
          <a:p>
            <a:endParaRPr lang="en-US" dirty="0"/>
          </a:p>
          <a:p>
            <a:r>
              <a:rPr lang="en-US" sz="2400" b="1" dirty="0">
                <a:solidFill>
                  <a:srgbClr val="C00000"/>
                </a:solidFill>
              </a:rPr>
              <a:t>Practical Implementation:</a:t>
            </a:r>
            <a:br>
              <a:rPr lang="en-US" dirty="0"/>
            </a:br>
            <a:r>
              <a:rPr lang="en-US" sz="1800" dirty="0"/>
              <a:t>The dashboard can be utilized by </a:t>
            </a:r>
            <a:r>
              <a:rPr lang="en-US" sz="1800" b="1" dirty="0"/>
              <a:t>city planners </a:t>
            </a:r>
            <a:r>
              <a:rPr lang="en-US" sz="1800" dirty="0"/>
              <a:t>or </a:t>
            </a:r>
            <a:r>
              <a:rPr lang="en-US" sz="1800" b="1" dirty="0"/>
              <a:t>everyday commuters </a:t>
            </a:r>
            <a:r>
              <a:rPr lang="en-US" sz="1800" dirty="0"/>
              <a:t>to monitor local pollution. The architecture is designed to be easily scaled into </a:t>
            </a:r>
            <a:r>
              <a:rPr lang="en-US" sz="1800" b="1" dirty="0"/>
              <a:t>a Smart City grid </a:t>
            </a:r>
            <a:r>
              <a:rPr lang="en-US" sz="1800" dirty="0"/>
              <a:t>using </a:t>
            </a:r>
            <a:r>
              <a:rPr lang="en-US" sz="1800" b="1" dirty="0"/>
              <a:t>embedded systems like Jetson or Raspberry Pi</a:t>
            </a:r>
            <a:r>
              <a:rPr lang="en-US" sz="18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015779-0D87-0B8F-666B-1C962E184FD1}"/>
              </a:ext>
            </a:extLst>
          </p:cNvPr>
          <p:cNvSpPr txBox="1"/>
          <p:nvPr/>
        </p:nvSpPr>
        <p:spPr>
          <a:xfrm>
            <a:off x="202071" y="972537"/>
            <a:ext cx="59040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213163"/>
                </a:solidFill>
              </a:rPr>
              <a:t>Solution Impact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4AD5D2-F27A-38F3-8B33-A21653438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596" y="1113222"/>
            <a:ext cx="3429000" cy="2571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F5B9ED-57E0-9B5D-6459-C14B7EB04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3646" y="3684972"/>
            <a:ext cx="26289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511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C0F50E-3048-BEA6-6962-A48C023C0388}"/>
              </a:ext>
            </a:extLst>
          </p:cNvPr>
          <p:cNvSpPr txBox="1"/>
          <p:nvPr/>
        </p:nvSpPr>
        <p:spPr>
          <a:xfrm>
            <a:off x="212231" y="962377"/>
            <a:ext cx="59040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213163"/>
                </a:solidFill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B546F-F91E-160B-DC7F-688AFB5A50EA}"/>
              </a:ext>
            </a:extLst>
          </p:cNvPr>
          <p:cNvSpPr txBox="1"/>
          <p:nvPr/>
        </p:nvSpPr>
        <p:spPr>
          <a:xfrm>
            <a:off x="563105" y="1665303"/>
            <a:ext cx="5926671" cy="4750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Summary: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This project successfully combines data engineering, live API integration, </a:t>
            </a:r>
            <a:r>
              <a:rPr lang="en-US" sz="1600" b="1" dirty="0"/>
              <a:t>and machine learning (</a:t>
            </a:r>
            <a:r>
              <a:rPr lang="en-US" sz="1600" b="1" dirty="0" err="1"/>
              <a:t>XGBoost</a:t>
            </a:r>
            <a:r>
              <a:rPr lang="en-US" sz="1600" b="1" dirty="0"/>
              <a:t>) </a:t>
            </a:r>
            <a:r>
              <a:rPr lang="en-US" sz="1600" dirty="0"/>
              <a:t>to create a fully functional,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real-time vehicle emission tracking system.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b="1" dirty="0" err="1"/>
              <a:t>Streamlit</a:t>
            </a:r>
            <a:r>
              <a:rPr lang="en-US" sz="1600" b="1" dirty="0"/>
              <a:t> dashboard </a:t>
            </a:r>
            <a:r>
              <a:rPr lang="en-US" sz="1600" dirty="0"/>
              <a:t>transforms raw traffic data into actionable, visual environmental insights.</a:t>
            </a:r>
            <a:endParaRPr lang="en-US" sz="1600" dirty="0">
              <a:latin typeface="+mn-lt"/>
            </a:endParaRPr>
          </a:p>
          <a:p>
            <a:pPr>
              <a:spcAft>
                <a:spcPts val="800"/>
              </a:spcAft>
            </a:pPr>
            <a:endParaRPr lang="en-US" sz="1800" dirty="0">
              <a:latin typeface="+mn-lt"/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Future Work: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Scale the application for Smart City embedded systems (edge computing).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Incorporate diverse datasets covering weather patterns and heavier commercial vehicle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Develop an eco-routing feature to actively suggest the greenest path to a destination.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</p:txBody>
      </p:sp>
      <p:pic>
        <p:nvPicPr>
          <p:cNvPr id="2" name="Picture 1" descr="A light bulb with a black background&#10;&#10;Description automatically generated">
            <a:extLst>
              <a:ext uri="{FF2B5EF4-FFF2-40B4-BE49-F238E27FC236}">
                <a16:creationId xmlns:a16="http://schemas.microsoft.com/office/drawing/2014/main" id="{75F7452F-58BC-17CE-3016-C04F4A0BB5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17" t="5427" r="7295" b="7474"/>
          <a:stretch/>
        </p:blipFill>
        <p:spPr>
          <a:xfrm>
            <a:off x="7482694" y="1780806"/>
            <a:ext cx="3499731" cy="356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21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C0F50E-3048-BEA6-6962-A48C023C0388}"/>
              </a:ext>
            </a:extLst>
          </p:cNvPr>
          <p:cNvSpPr txBox="1"/>
          <p:nvPr/>
        </p:nvSpPr>
        <p:spPr>
          <a:xfrm>
            <a:off x="212231" y="962377"/>
            <a:ext cx="59040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213163"/>
                </a:solidFill>
              </a:rPr>
              <a:t>References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05636" y="1887393"/>
            <a:ext cx="851066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https://www.kaggle.com/code/tatianafuentes/co2-vehicles-emission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https://developer.tomtom.com/pricing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https://www.python.org/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https://streamlit.io/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https://www.kaggle.com/datasets/debajyotipodder/co2-emission-by-vehicles/data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8"/>
              </a:rPr>
              <a:t>https://docs.ultralytics.com/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9"/>
              </a:rPr>
              <a:t>https://docs.ultralytics.com/models/yolo26/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0"/>
              </a:rPr>
              <a:t>https://github.com/ruhyadi/vehicle-detection-yolov8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B37511-2F94-26A1-BF59-4BE39A8A0D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636" y="4357196"/>
            <a:ext cx="1895740" cy="695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ED45D3-19A2-BCC6-5446-22BA5DE1A5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01376" y="5381435"/>
            <a:ext cx="1657581" cy="743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48FF4C-0838-1BD4-CAE2-C38D7530C82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36168" y="4504330"/>
            <a:ext cx="2600688" cy="790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3D5911-9DB8-B396-7536-80878971E69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93614" y="5295015"/>
            <a:ext cx="2314681" cy="8294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888C17-A11B-0B32-BF05-7B255E3C9E3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8295" y="4153244"/>
            <a:ext cx="1798750" cy="89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25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0C30A77F-BE9B-73CB-CC7F-A1F8B5B87AB9}"/>
              </a:ext>
            </a:extLst>
          </p:cNvPr>
          <p:cNvSpPr txBox="1">
            <a:spLocks/>
          </p:cNvSpPr>
          <p:nvPr/>
        </p:nvSpPr>
        <p:spPr>
          <a:xfrm>
            <a:off x="4315206" y="3214562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 dirty="0">
                <a:solidFill>
                  <a:srgbClr val="213163"/>
                </a:solidFill>
              </a:rPr>
              <a:t>Thank You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6559A34-456E-49A1-8157-9E3D18BFAD36}">
  <ds:schemaRefs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c0fa2617-96bd-425d-8578-e93563fe37c5"/>
    <ds:schemaRef ds:uri="9162bd5b-4ed9-4da3-b376-05204580ba3f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3882</TotalTime>
  <Words>821</Words>
  <Application>Microsoft Office PowerPoint</Application>
  <PresentationFormat>Widescreen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Rushi Mujpara</cp:lastModifiedBy>
  <cp:revision>82</cp:revision>
  <dcterms:modified xsi:type="dcterms:W3CDTF">2026-04-17T10:38:16Z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